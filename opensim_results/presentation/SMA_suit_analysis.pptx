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25E80A-8449-4EC7-9B45-44B9AC26F8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EE4655-F8D0-4117-9AF4-BEADA4B856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83D7871-287E-42E0-B573-458F2724F9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5E2E41B-FA9D-4EE7-BAB4-59588D5105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4D6FDD1-B42E-48D0-9014-5B614809FC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7F1AD9F-14D4-4A6A-AF47-37426FD1E2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6BE209E-68E0-4549-933B-B045BCF8D2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D6B294B-54FF-41E2-BF95-26BE60195B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A6BE488-7E67-4D0E-B8C8-FD82767065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37BFF90-FA9C-40FA-B87D-A2EE738285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AC0D61D-408A-4835-9669-EEEC9BB794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0BB03D-5764-400C-8930-3B3F53B855F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3CD507-E5A7-47C9-A9D2-E5D630A2745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D97EE1-5FC0-4BE1-BDAF-03CD30E35F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C7467A-C734-45F1-809D-743E4819EF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E4E4E1-B660-4D9D-A972-6C45722F5B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E27B1D-3A50-4B99-BEB7-51BF23E0BC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F9D1F8-8AD1-4F48-ABE0-98ADE58C09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9DD67B-72EC-4800-A042-9FE297DD14A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3092EA-8F82-4EDD-8D8F-B675B82080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C3C40A-E509-46C6-9CCB-1230F4AEC3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B746EA-7B6B-4805-A613-5FBAFE13C9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1371600" y="1371600"/>
            <a:ext cx="9143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SMA </a:t>
            </a:r>
            <a:r>
              <a:rPr b="1" lang="ko-KR" sz="4400" spc="-1" strike="noStrike">
                <a:solidFill>
                  <a:srgbClr val="ffffff"/>
                </a:solidFill>
                <a:latin typeface="Calibri"/>
              </a:rPr>
              <a:t>근력보조슈트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371600" y="274320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ko-KR" sz="2800" spc="-1" strike="noStrike">
                <a:solidFill>
                  <a:srgbClr val="ffc107"/>
                </a:solidFill>
                <a:latin typeface="Calibri"/>
              </a:rPr>
              <a:t>전신 근골격 시뮬레이션 분석 결과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371600" y="4114800"/>
            <a:ext cx="9143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90caf9"/>
                </a:solidFill>
                <a:latin typeface="Calibri"/>
              </a:rPr>
              <a:t>Full-Body Musculoskeletal Simulation Analysis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371600" y="5486400"/>
            <a:ext cx="9143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4b5f6"/>
                </a:solidFill>
                <a:latin typeface="Calibri"/>
              </a:rPr>
              <a:t>OpenSim Rajagopal2016 + BONES-SEED  |  270 conditions × 10 motions = 2,700 simulations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5720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0d47a1"/>
                </a:solidFill>
                <a:latin typeface="Calibri"/>
              </a:rPr>
              <a:t>연구 배경 </a:t>
            </a:r>
            <a:r>
              <a:rPr b="1" lang="en-US" sz="3200" spc="-1" strike="noStrike">
                <a:solidFill>
                  <a:srgbClr val="0d47a1"/>
                </a:solidFill>
                <a:latin typeface="Calibri"/>
              </a:rPr>
              <a:t>(Background)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188720"/>
            <a:ext cx="5486040" cy="36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c62828"/>
                </a:solidFill>
                <a:latin typeface="Calibri"/>
              </a:rPr>
              <a:t>산업 현장의 문제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근골격계 질환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(MSD):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산업재해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1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위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요통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: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전체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MSD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의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60%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이상 차지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Stoop lift: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가장 위험한 반복 작업 동작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특히 고령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/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여성 작업자에서 위험도 ↑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1565c0"/>
                </a:solidFill>
                <a:latin typeface="Calibri"/>
              </a:rPr>
              <a:t>해결 방안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SMA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기반 웨어러블 근력보조슈트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200N Shape Memory Alloy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액추에이터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허리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+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어깨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+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팔 전신 보조 시스템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6400800" y="1188720"/>
            <a:ext cx="5303160" cy="39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0d47a1"/>
                </a:solidFill>
                <a:latin typeface="Calibri"/>
              </a:rPr>
              <a:t>대상 작업자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물류 창고 작업자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(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택배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,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이사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제조업 라인 작업자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건설 현장 작업자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농업 종사자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0d47a1"/>
                </a:solidFill>
                <a:latin typeface="Calibri"/>
              </a:rPr>
              <a:t>분석 목표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척추기립근 부하 감소 정량화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삼각근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/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이두근 부하 감소 정량화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성별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/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연령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/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체형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/ 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하중별 효과 분석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en-US" sz="1800" spc="-1" strike="noStrike">
                <a:solidFill>
                  <a:srgbClr val="212121"/>
                </a:solidFill>
                <a:latin typeface="Calibri"/>
              </a:rPr>
              <a:t>270</a:t>
            </a:r>
            <a:r>
              <a:rPr b="0" lang="ko-KR" sz="1800" spc="-1" strike="noStrike">
                <a:solidFill>
                  <a:srgbClr val="212121"/>
                </a:solidFill>
                <a:latin typeface="Calibri"/>
              </a:rPr>
              <a:t>개 조건 다변수 시뮬레이션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5720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0d47a1"/>
                </a:solidFill>
                <a:latin typeface="Calibri"/>
              </a:rPr>
              <a:t>슈트 사양 </a:t>
            </a:r>
            <a:r>
              <a:rPr b="1" lang="en-US" sz="3200" spc="-1" strike="noStrike">
                <a:solidFill>
                  <a:srgbClr val="0d47a1"/>
                </a:solidFill>
                <a:latin typeface="Calibri"/>
              </a:rPr>
              <a:t>(Suit Specification)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1371600"/>
            <a:ext cx="10972440" cy="40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565c0"/>
                </a:solidFill>
                <a:latin typeface="Calibri"/>
              </a:rPr>
              <a:t>SMA Fabric Actuator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57575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┌──────────────────────────────────────────────────────────┐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│  </a:t>
            </a:r>
            <a:r>
              <a:rPr b="0" lang="ko-KR" sz="1400" spc="-1" strike="noStrike">
                <a:solidFill>
                  <a:srgbClr val="212121"/>
                </a:solidFill>
                <a:latin typeface="Calibri"/>
              </a:rPr>
              <a:t>액추에이터 종류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:   Shape Memory Alloy (SMA) </a:t>
            </a:r>
            <a:r>
              <a:rPr b="0" lang="ko-KR" sz="1400" spc="-1" strike="noStrike">
                <a:solidFill>
                  <a:srgbClr val="212121"/>
                </a:solidFill>
                <a:latin typeface="Calibri"/>
              </a:rPr>
              <a:t>직물형       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│  </a:t>
            </a:r>
            <a:r>
              <a:rPr b="0" lang="ko-KR" sz="1400" spc="-1" strike="noStrike">
                <a:solidFill>
                  <a:srgbClr val="212121"/>
                </a:solidFill>
                <a:latin typeface="Calibri"/>
              </a:rPr>
              <a:t>최대 출력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:         200N (</a:t>
            </a:r>
            <a:r>
              <a:rPr b="0" lang="ko-KR" sz="1400" spc="-1" strike="noStrike">
                <a:solidFill>
                  <a:srgbClr val="212121"/>
                </a:solidFill>
                <a:latin typeface="Calibri"/>
              </a:rPr>
              <a:t>약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20kg </a:t>
            </a:r>
            <a:r>
              <a:rPr b="0" lang="ko-KR" sz="1400" spc="-1" strike="noStrike">
                <a:solidFill>
                  <a:srgbClr val="212121"/>
                </a:solidFill>
                <a:latin typeface="Calibri"/>
              </a:rPr>
              <a:t>상당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)                    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│  </a:t>
            </a:r>
            <a:r>
              <a:rPr b="0" lang="ko-KR" sz="1400" spc="-1" strike="noStrike">
                <a:solidFill>
                  <a:srgbClr val="212121"/>
                </a:solidFill>
                <a:latin typeface="Calibri"/>
              </a:rPr>
              <a:t>허리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moment arm:   11.5cm → </a:t>
            </a:r>
            <a:r>
              <a:rPr b="0" lang="ko-KR" sz="1400" spc="-1" strike="noStrike">
                <a:solidFill>
                  <a:srgbClr val="212121"/>
                </a:solidFill>
                <a:latin typeface="Calibri"/>
              </a:rPr>
              <a:t>최대 토크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23.0 Nm            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│  </a:t>
            </a:r>
            <a:r>
              <a:rPr b="0" lang="ko-KR" sz="1400" spc="-1" strike="noStrike">
                <a:solidFill>
                  <a:srgbClr val="212121"/>
                </a:solidFill>
                <a:latin typeface="Calibri"/>
              </a:rPr>
              <a:t>어깨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moment arm:   10.0cm → </a:t>
            </a:r>
            <a:r>
              <a:rPr b="0" lang="ko-KR" sz="1400" spc="-1" strike="noStrike">
                <a:solidFill>
                  <a:srgbClr val="212121"/>
                </a:solidFill>
                <a:latin typeface="Calibri"/>
              </a:rPr>
              <a:t>최대 토크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20.0 Nm            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│  </a:t>
            </a:r>
            <a:r>
              <a:rPr b="0" lang="ko-KR" sz="1400" spc="-1" strike="noStrike">
                <a:solidFill>
                  <a:srgbClr val="212121"/>
                </a:solidFill>
                <a:latin typeface="Calibri"/>
              </a:rPr>
              <a:t>팔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moment arm:     10.0cm → </a:t>
            </a:r>
            <a:r>
              <a:rPr b="0" lang="ko-KR" sz="1400" spc="-1" strike="noStrike">
                <a:solidFill>
                  <a:srgbClr val="212121"/>
                </a:solidFill>
                <a:latin typeface="Calibri"/>
              </a:rPr>
              <a:t>최대 토크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20.0 Nm            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57575"/>
                </a:solidFill>
                <a:latin typeface="Calibri"/>
              </a:rPr>
              <a:t>└──────────────────────────────────────────────────────────┘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212121"/>
                </a:solidFill>
                <a:latin typeface="Calibri"/>
              </a:rPr>
              <a:t>보조 위치 </a:t>
            </a:r>
            <a:r>
              <a:rPr b="1" lang="en-US" sz="2000" spc="-1" strike="noStrike">
                <a:solidFill>
                  <a:srgbClr val="212121"/>
                </a:solidFill>
                <a:latin typeface="Calibri"/>
              </a:rPr>
              <a:t>(3-point assistance)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12121"/>
                </a:solidFill>
                <a:latin typeface="Calibri"/>
              </a:rPr>
              <a:t>  ① </a:t>
            </a:r>
            <a:r>
              <a:rPr b="0" lang="ko-KR" sz="1700" spc="-1" strike="noStrike">
                <a:solidFill>
                  <a:srgbClr val="212121"/>
                </a:solidFill>
                <a:latin typeface="Calibri"/>
              </a:rPr>
              <a:t>허리 </a:t>
            </a:r>
            <a:r>
              <a:rPr b="0" lang="en-US" sz="1700" spc="-1" strike="noStrike">
                <a:solidFill>
                  <a:srgbClr val="212121"/>
                </a:solidFill>
                <a:latin typeface="Calibri"/>
              </a:rPr>
              <a:t>(Lumbar Extension)    → </a:t>
            </a:r>
            <a:r>
              <a:rPr b="0" lang="ko-KR" sz="1700" spc="-1" strike="noStrike">
                <a:solidFill>
                  <a:srgbClr val="212121"/>
                </a:solidFill>
                <a:latin typeface="Calibri"/>
              </a:rPr>
              <a:t>척추기립근 보조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12121"/>
                </a:solidFill>
                <a:latin typeface="Calibri"/>
              </a:rPr>
              <a:t>  ② </a:t>
            </a:r>
            <a:r>
              <a:rPr b="0" lang="ko-KR" sz="1700" spc="-1" strike="noStrike">
                <a:solidFill>
                  <a:srgbClr val="212121"/>
                </a:solidFill>
                <a:latin typeface="Calibri"/>
              </a:rPr>
              <a:t>어깨 </a:t>
            </a:r>
            <a:r>
              <a:rPr b="0" lang="en-US" sz="1700" spc="-1" strike="noStrike">
                <a:solidFill>
                  <a:srgbClr val="212121"/>
                </a:solidFill>
                <a:latin typeface="Calibri"/>
              </a:rPr>
              <a:t>(Shoulder Flexion)    → </a:t>
            </a:r>
            <a:r>
              <a:rPr b="0" lang="ko-KR" sz="1700" spc="-1" strike="noStrike">
                <a:solidFill>
                  <a:srgbClr val="212121"/>
                </a:solidFill>
                <a:latin typeface="Calibri"/>
              </a:rPr>
              <a:t>삼각근 보조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12121"/>
                </a:solidFill>
                <a:latin typeface="Calibri"/>
              </a:rPr>
              <a:t>  ③ </a:t>
            </a:r>
            <a:r>
              <a:rPr b="0" lang="ko-KR" sz="1700" spc="-1" strike="noStrike">
                <a:solidFill>
                  <a:srgbClr val="212121"/>
                </a:solidFill>
                <a:latin typeface="Calibri"/>
              </a:rPr>
              <a:t>팔꿈치 </a:t>
            </a:r>
            <a:r>
              <a:rPr b="0" lang="en-US" sz="1700" spc="-1" strike="noStrike">
                <a:solidFill>
                  <a:srgbClr val="212121"/>
                </a:solidFill>
                <a:latin typeface="Calibri"/>
              </a:rPr>
              <a:t>(Elbow Flexion)     → </a:t>
            </a:r>
            <a:r>
              <a:rPr b="0" lang="ko-KR" sz="1700" spc="-1" strike="noStrike">
                <a:solidFill>
                  <a:srgbClr val="212121"/>
                </a:solidFill>
                <a:latin typeface="Calibri"/>
              </a:rPr>
              <a:t>이두근 보조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274320"/>
            <a:ext cx="54860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0d47a1"/>
                </a:solidFill>
                <a:latin typeface="Calibri"/>
              </a:rPr>
              <a:t>분석 방법 </a:t>
            </a:r>
            <a:r>
              <a:rPr b="1" lang="en-US" sz="3200" spc="-1" strike="noStrike">
                <a:solidFill>
                  <a:srgbClr val="0d47a1"/>
                </a:solidFill>
                <a:latin typeface="Calibri"/>
              </a:rPr>
              <a:t>(Methods)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7200" y="1188720"/>
            <a:ext cx="502884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1565c0"/>
                </a:solidFill>
                <a:latin typeface="Calibri"/>
              </a:rPr>
              <a:t>근골격 모델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Rajagopal2016 (OpenSim 4.5.2)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39 DOF, 82 muscles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500" spc="-1" strike="noStrike">
                <a:solidFill>
                  <a:srgbClr val="212121"/>
                </a:solidFill>
                <a:latin typeface="Calibri"/>
              </a:rPr>
              <a:t>추가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: Erector Spinae (800N/side)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1565c0"/>
                </a:solidFill>
                <a:latin typeface="Calibri"/>
              </a:rPr>
              <a:t>모션 데이터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BONES-SEED (142,220 motions)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748 stoop clips → 10 representative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SOMA 77-joint skeleton @ 120fps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1565c0"/>
                </a:solidFill>
                <a:latin typeface="Calibri"/>
              </a:rPr>
              <a:t>실험 설계 </a:t>
            </a:r>
            <a:r>
              <a:rPr b="1" lang="en-US" sz="2000" spc="-1" strike="noStrike">
                <a:solidFill>
                  <a:srgbClr val="1565c0"/>
                </a:solidFill>
                <a:latin typeface="Calibri"/>
              </a:rPr>
              <a:t>(270 conditions)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500" spc="-1" strike="noStrike">
                <a:solidFill>
                  <a:srgbClr val="212121"/>
                </a:solidFill>
                <a:latin typeface="Calibri"/>
              </a:rPr>
              <a:t>성별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(2) × </a:t>
            </a:r>
            <a:r>
              <a:rPr b="0" lang="ko-KR" sz="1500" spc="-1" strike="noStrike">
                <a:solidFill>
                  <a:srgbClr val="212121"/>
                </a:solidFill>
                <a:latin typeface="Calibri"/>
              </a:rPr>
              <a:t>연령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(3) × </a:t>
            </a:r>
            <a:r>
              <a:rPr b="0" lang="ko-KR" sz="1500" spc="-1" strike="noStrike">
                <a:solidFill>
                  <a:srgbClr val="212121"/>
                </a:solidFill>
                <a:latin typeface="Calibri"/>
              </a:rPr>
              <a:t>체형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(3)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500" spc="-1" strike="noStrike">
                <a:solidFill>
                  <a:srgbClr val="212121"/>
                </a:solidFill>
                <a:latin typeface="Calibri"/>
              </a:rPr>
              <a:t>하중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(3): 10 / 20 / 30 kg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ko-KR" sz="1500" spc="-1" strike="noStrike">
                <a:solidFill>
                  <a:srgbClr val="212121"/>
                </a:solidFill>
                <a:latin typeface="Calibri"/>
              </a:rPr>
              <a:t>보조력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(5): 0 / 50 / 100 / 150 / 200 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c62828"/>
                </a:solidFill>
                <a:latin typeface="Calibri"/>
              </a:rPr>
              <a:t>• </a:t>
            </a:r>
            <a:r>
              <a:rPr b="1" lang="ko-KR" sz="1500" spc="-1" strike="noStrike">
                <a:solidFill>
                  <a:srgbClr val="c62828"/>
                </a:solidFill>
                <a:latin typeface="Calibri"/>
              </a:rPr>
              <a:t>총 </a:t>
            </a:r>
            <a:r>
              <a:rPr b="1" lang="en-US" sz="1500" spc="-1" strike="noStrike">
                <a:solidFill>
                  <a:srgbClr val="c62828"/>
                </a:solidFill>
                <a:latin typeface="Calibri"/>
              </a:rPr>
              <a:t>2,700 </a:t>
            </a:r>
            <a:r>
              <a:rPr b="1" lang="ko-KR" sz="1500" spc="-1" strike="noStrike">
                <a:solidFill>
                  <a:srgbClr val="c62828"/>
                </a:solidFill>
                <a:latin typeface="Calibri"/>
              </a:rPr>
              <a:t>시뮬레이션 </a:t>
            </a:r>
            <a:r>
              <a:rPr b="1" lang="en-US" sz="1500" spc="-1" strike="noStrike">
                <a:solidFill>
                  <a:srgbClr val="c62828"/>
                </a:solidFill>
                <a:latin typeface="Calibri"/>
              </a:rPr>
              <a:t>(70</a:t>
            </a:r>
            <a:r>
              <a:rPr b="1" lang="ko-KR" sz="1500" spc="-1" strike="noStrike">
                <a:solidFill>
                  <a:srgbClr val="c62828"/>
                </a:solidFill>
                <a:latin typeface="Calibri"/>
              </a:rPr>
              <a:t>초 완료</a:t>
            </a:r>
            <a:r>
              <a:rPr b="1" lang="en-US" sz="1500" spc="-1" strike="noStrike">
                <a:solidFill>
                  <a:srgbClr val="c62828"/>
                </a:solidFill>
                <a:latin typeface="Calibri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Picture 3" descr="fig3_regression.png"/>
          <p:cNvPicPr/>
          <p:nvPr/>
        </p:nvPicPr>
        <p:blipFill>
          <a:blip r:embed="rId1"/>
          <a:stretch/>
        </p:blipFill>
        <p:spPr>
          <a:xfrm>
            <a:off x="5669280" y="914400"/>
            <a:ext cx="6217560" cy="369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5"/>
          <p:cNvSpPr/>
          <p:nvPr/>
        </p:nvSpPr>
        <p:spPr>
          <a:xfrm>
            <a:off x="45720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0d47a1"/>
                </a:solidFill>
                <a:latin typeface="Calibri"/>
              </a:rPr>
              <a:t>핵심 결과 </a:t>
            </a:r>
            <a:r>
              <a:rPr b="1" lang="en-US" sz="3200" spc="-1" strike="noStrike">
                <a:solidFill>
                  <a:srgbClr val="0d47a1"/>
                </a:solidFill>
                <a:latin typeface="Calibri"/>
              </a:rPr>
              <a:t>1: </a:t>
            </a:r>
            <a:r>
              <a:rPr b="1" lang="ko-KR" sz="3200" spc="-1" strike="noStrike">
                <a:solidFill>
                  <a:srgbClr val="0d47a1"/>
                </a:solidFill>
                <a:latin typeface="Calibri"/>
              </a:rPr>
              <a:t>허리 보조 효과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457200" y="5669280"/>
            <a:ext cx="112467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565c0"/>
                </a:solidFill>
                <a:latin typeface="Calibri"/>
              </a:rPr>
              <a:t>200N SMA </a:t>
            </a:r>
            <a:r>
              <a:rPr b="1" lang="ko-KR" sz="1800" spc="-1" strike="noStrike">
                <a:solidFill>
                  <a:srgbClr val="1565c0"/>
                </a:solidFill>
                <a:latin typeface="Calibri"/>
              </a:rPr>
              <a:t>슈트</a:t>
            </a:r>
            <a:r>
              <a:rPr b="1" lang="en-US" sz="1800" spc="-1" strike="noStrike">
                <a:solidFill>
                  <a:srgbClr val="1565c0"/>
                </a:solidFill>
                <a:latin typeface="Calibri"/>
              </a:rPr>
              <a:t>: 10kg </a:t>
            </a:r>
            <a:r>
              <a:rPr b="1" lang="ko-KR" sz="1800" spc="-1" strike="noStrike">
                <a:solidFill>
                  <a:srgbClr val="1565c0"/>
                </a:solidFill>
                <a:latin typeface="Calibri"/>
              </a:rPr>
              <a:t>작업 </a:t>
            </a:r>
            <a:r>
              <a:rPr b="1" lang="en-US" sz="1800" spc="-1" strike="noStrike">
                <a:solidFill>
                  <a:srgbClr val="1565c0"/>
                </a:solidFill>
                <a:latin typeface="Calibri"/>
              </a:rPr>
              <a:t>23.4% / 20kg </a:t>
            </a:r>
            <a:r>
              <a:rPr b="1" lang="ko-KR" sz="1800" spc="-1" strike="noStrike">
                <a:solidFill>
                  <a:srgbClr val="1565c0"/>
                </a:solidFill>
                <a:latin typeface="Calibri"/>
              </a:rPr>
              <a:t>작업 </a:t>
            </a:r>
            <a:r>
              <a:rPr b="1" lang="en-US" sz="1800" spc="-1" strike="noStrike">
                <a:solidFill>
                  <a:srgbClr val="1565c0"/>
                </a:solidFill>
                <a:latin typeface="Calibri"/>
              </a:rPr>
              <a:t>16.1% / 30kg </a:t>
            </a:r>
            <a:r>
              <a:rPr b="1" lang="ko-KR" sz="1800" spc="-1" strike="noStrike">
                <a:solidFill>
                  <a:srgbClr val="1565c0"/>
                </a:solidFill>
                <a:latin typeface="Calibri"/>
              </a:rPr>
              <a:t>작업 </a:t>
            </a:r>
            <a:r>
              <a:rPr b="1" lang="en-US" sz="1800" spc="-1" strike="noStrike">
                <a:solidFill>
                  <a:srgbClr val="1565c0"/>
                </a:solidFill>
                <a:latin typeface="Calibri"/>
              </a:rPr>
              <a:t>12.4% </a:t>
            </a:r>
            <a:r>
              <a:rPr b="1" lang="ko-KR" sz="1800" spc="-1" strike="noStrike">
                <a:solidFill>
                  <a:srgbClr val="1565c0"/>
                </a:solidFill>
                <a:latin typeface="Calibri"/>
              </a:rPr>
              <a:t>척추기립근 부하 감소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Picture 9" descr="fig5_erector_spinae_comparison.png"/>
          <p:cNvPicPr/>
          <p:nvPr/>
        </p:nvPicPr>
        <p:blipFill>
          <a:blip r:embed="rId1"/>
          <a:stretch/>
        </p:blipFill>
        <p:spPr>
          <a:xfrm>
            <a:off x="2973960" y="851760"/>
            <a:ext cx="6566040" cy="502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5720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0d47a1"/>
                </a:solidFill>
                <a:latin typeface="Calibri"/>
              </a:rPr>
              <a:t>핵심 결과 </a:t>
            </a:r>
            <a:r>
              <a:rPr b="1" lang="en-US" sz="3200" spc="-1" strike="noStrike">
                <a:solidFill>
                  <a:srgbClr val="0d47a1"/>
                </a:solidFill>
                <a:latin typeface="Calibri"/>
              </a:rPr>
              <a:t>1: </a:t>
            </a:r>
            <a:r>
              <a:rPr b="1" lang="ko-KR" sz="3200" spc="-1" strike="noStrike">
                <a:solidFill>
                  <a:srgbClr val="0d47a1"/>
                </a:solidFill>
                <a:latin typeface="Calibri"/>
              </a:rPr>
              <a:t>허리 보조 효과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Picture 2" descr="fig1_force_reduction.png"/>
          <p:cNvPicPr/>
          <p:nvPr/>
        </p:nvPicPr>
        <p:blipFill>
          <a:blip r:embed="rId1"/>
          <a:stretch/>
        </p:blipFill>
        <p:spPr>
          <a:xfrm>
            <a:off x="274320" y="1097280"/>
            <a:ext cx="5943240" cy="3527280"/>
          </a:xfrm>
          <a:prstGeom prst="rect">
            <a:avLst/>
          </a:prstGeom>
          <a:ln w="0">
            <a:noFill/>
          </a:ln>
        </p:spPr>
      </p:pic>
      <p:pic>
        <p:nvPicPr>
          <p:cNvPr id="84" name="Picture 3" descr="fig4_load_comparison.png"/>
          <p:cNvPicPr/>
          <p:nvPr/>
        </p:nvPicPr>
        <p:blipFill>
          <a:blip r:embed="rId2"/>
          <a:stretch/>
        </p:blipFill>
        <p:spPr>
          <a:xfrm>
            <a:off x="6217920" y="1097280"/>
            <a:ext cx="5668920" cy="3364200"/>
          </a:xfrm>
          <a:prstGeom prst="rect">
            <a:avLst/>
          </a:prstGeom>
          <a:ln w="0">
            <a:noFill/>
          </a:ln>
        </p:spPr>
      </p:pic>
      <p:sp>
        <p:nvSpPr>
          <p:cNvPr id="85" name="TextBox 4"/>
          <p:cNvSpPr/>
          <p:nvPr/>
        </p:nvSpPr>
        <p:spPr>
          <a:xfrm>
            <a:off x="457200" y="5669280"/>
            <a:ext cx="112467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565c0"/>
                </a:solidFill>
                <a:latin typeface="Calibri"/>
              </a:rPr>
              <a:t>200N SMA </a:t>
            </a:r>
            <a:r>
              <a:rPr b="1" lang="ko-KR" sz="1800" spc="-1" strike="noStrike">
                <a:solidFill>
                  <a:srgbClr val="1565c0"/>
                </a:solidFill>
                <a:latin typeface="Calibri"/>
              </a:rPr>
              <a:t>슈트</a:t>
            </a:r>
            <a:r>
              <a:rPr b="1" lang="en-US" sz="1800" spc="-1" strike="noStrike">
                <a:solidFill>
                  <a:srgbClr val="1565c0"/>
                </a:solidFill>
                <a:latin typeface="Calibri"/>
              </a:rPr>
              <a:t>: 10kg </a:t>
            </a:r>
            <a:r>
              <a:rPr b="1" lang="ko-KR" sz="1800" spc="-1" strike="noStrike">
                <a:solidFill>
                  <a:srgbClr val="1565c0"/>
                </a:solidFill>
                <a:latin typeface="Calibri"/>
              </a:rPr>
              <a:t>작업 </a:t>
            </a:r>
            <a:r>
              <a:rPr b="1" lang="en-US" sz="1800" spc="-1" strike="noStrike">
                <a:solidFill>
                  <a:srgbClr val="1565c0"/>
                </a:solidFill>
                <a:latin typeface="Calibri"/>
              </a:rPr>
              <a:t>23.4% / 20kg </a:t>
            </a:r>
            <a:r>
              <a:rPr b="1" lang="ko-KR" sz="1800" spc="-1" strike="noStrike">
                <a:solidFill>
                  <a:srgbClr val="1565c0"/>
                </a:solidFill>
                <a:latin typeface="Calibri"/>
              </a:rPr>
              <a:t>작업 </a:t>
            </a:r>
            <a:r>
              <a:rPr b="1" lang="en-US" sz="1800" spc="-1" strike="noStrike">
                <a:solidFill>
                  <a:srgbClr val="1565c0"/>
                </a:solidFill>
                <a:latin typeface="Calibri"/>
              </a:rPr>
              <a:t>16.1% / 30kg </a:t>
            </a:r>
            <a:r>
              <a:rPr b="1" lang="ko-KR" sz="1800" spc="-1" strike="noStrike">
                <a:solidFill>
                  <a:srgbClr val="1565c0"/>
                </a:solidFill>
                <a:latin typeface="Calibri"/>
              </a:rPr>
              <a:t>작업 </a:t>
            </a:r>
            <a:r>
              <a:rPr b="1" lang="en-US" sz="1800" spc="-1" strike="noStrike">
                <a:solidFill>
                  <a:srgbClr val="1565c0"/>
                </a:solidFill>
                <a:latin typeface="Calibri"/>
              </a:rPr>
              <a:t>12.4% </a:t>
            </a:r>
            <a:r>
              <a:rPr b="1" lang="ko-KR" sz="1800" spc="-1" strike="noStrike">
                <a:solidFill>
                  <a:srgbClr val="1565c0"/>
                </a:solidFill>
                <a:latin typeface="Calibri"/>
              </a:rPr>
              <a:t>척추기립근 부하 감소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45720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0d47a1"/>
                </a:solidFill>
                <a:latin typeface="Calibri"/>
              </a:rPr>
              <a:t>핵심 결과 </a:t>
            </a:r>
            <a:r>
              <a:rPr b="1" lang="en-US" sz="3200" spc="-1" strike="noStrike">
                <a:solidFill>
                  <a:srgbClr val="0d47a1"/>
                </a:solidFill>
                <a:latin typeface="Calibri"/>
              </a:rPr>
              <a:t>2: </a:t>
            </a:r>
            <a:r>
              <a:rPr b="1" lang="ko-KR" sz="3200" spc="-1" strike="noStrike">
                <a:solidFill>
                  <a:srgbClr val="0d47a1"/>
                </a:solidFill>
                <a:latin typeface="Calibri"/>
              </a:rPr>
              <a:t>전신 복합 보조 효과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Picture 2" descr="fig8_full_suit_infographic.png"/>
          <p:cNvPicPr/>
          <p:nvPr/>
        </p:nvPicPr>
        <p:blipFill>
          <a:blip r:embed="rId1"/>
          <a:stretch/>
        </p:blipFill>
        <p:spPr>
          <a:xfrm>
            <a:off x="457200" y="1097280"/>
            <a:ext cx="11246760" cy="725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457200" y="45720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3600" spc="-1" strike="noStrike">
                <a:solidFill>
                  <a:srgbClr val="ffffff"/>
                </a:solidFill>
                <a:latin typeface="Calibri"/>
              </a:rPr>
              <a:t>결론 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(Conclusion)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914400" y="1645920"/>
            <a:ext cx="10058040" cy="25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c107"/>
                </a:solidFill>
                <a:latin typeface="Calibri"/>
              </a:rPr>
              <a:t>20kg </a:t>
            </a:r>
            <a:r>
              <a:rPr b="1" lang="ko-KR" sz="2200" spc="-1" strike="noStrike">
                <a:solidFill>
                  <a:srgbClr val="ffc107"/>
                </a:solidFill>
                <a:latin typeface="Calibri"/>
              </a:rPr>
              <a:t>작업 기준</a:t>
            </a:r>
            <a:r>
              <a:rPr b="1" lang="en-US" sz="2200" spc="-1" strike="noStrike">
                <a:solidFill>
                  <a:srgbClr val="ffc107"/>
                </a:solidFill>
                <a:latin typeface="Calibri"/>
              </a:rPr>
              <a:t>, 200N SMA </a:t>
            </a:r>
            <a:r>
              <a:rPr b="1" lang="ko-KR" sz="2200" spc="-1" strike="noStrike">
                <a:solidFill>
                  <a:srgbClr val="ffc107"/>
                </a:solidFill>
                <a:latin typeface="Calibri"/>
              </a:rPr>
              <a:t>전신 슈트 착용 시</a:t>
            </a:r>
            <a:r>
              <a:rPr b="1" lang="en-US" sz="2200" spc="-1" strike="noStrike">
                <a:solidFill>
                  <a:srgbClr val="ffc107"/>
                </a:solidFill>
                <a:latin typeface="Calibri"/>
              </a:rPr>
              <a:t>: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    </a:t>
            </a:r>
            <a:r>
              <a:rPr b="1" lang="ko-KR" sz="2200" spc="-1" strike="noStrike">
                <a:solidFill>
                  <a:srgbClr val="ffffff"/>
                </a:solidFill>
                <a:latin typeface="Calibri"/>
              </a:rPr>
              <a:t>척추기립근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1" lang="ko-KR" sz="2200" spc="-1" strike="noStrike">
                <a:solidFill>
                  <a:srgbClr val="ffffff"/>
                </a:solidFill>
                <a:latin typeface="Calibri"/>
              </a:rPr>
              <a:t>허리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):  16.1% </a:t>
            </a:r>
            <a:r>
              <a:rPr b="1" lang="ko-KR" sz="2200" spc="-1" strike="noStrike">
                <a:solidFill>
                  <a:srgbClr val="ffffff"/>
                </a:solidFill>
                <a:latin typeface="Calibri"/>
              </a:rPr>
              <a:t>부하 감소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    </a:t>
            </a:r>
            <a:r>
              <a:rPr b="1" lang="ko-KR" sz="2200" spc="-1" strike="noStrike">
                <a:solidFill>
                  <a:srgbClr val="ffffff"/>
                </a:solidFill>
                <a:latin typeface="Calibri"/>
              </a:rPr>
              <a:t>삼각근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1" lang="ko-KR" sz="2200" spc="-1" strike="noStrike">
                <a:solidFill>
                  <a:srgbClr val="ffffff"/>
                </a:solidFill>
                <a:latin typeface="Calibri"/>
              </a:rPr>
              <a:t>어깨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):      46.0% </a:t>
            </a:r>
            <a:r>
              <a:rPr b="1" lang="ko-KR" sz="2200" spc="-1" strike="noStrike">
                <a:solidFill>
                  <a:srgbClr val="ffffff"/>
                </a:solidFill>
                <a:latin typeface="Calibri"/>
              </a:rPr>
              <a:t>부하 감소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    </a:t>
            </a:r>
            <a:r>
              <a:rPr b="1" lang="ko-KR" sz="2200" spc="-1" strike="noStrike">
                <a:solidFill>
                  <a:srgbClr val="ffffff"/>
                </a:solidFill>
                <a:latin typeface="Calibri"/>
              </a:rPr>
              <a:t>이두근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1" lang="ko-KR" sz="2200" spc="-1" strike="noStrike">
                <a:solidFill>
                  <a:srgbClr val="ffffff"/>
                </a:solidFill>
                <a:latin typeface="Calibri"/>
              </a:rPr>
              <a:t>팔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):        37.3% </a:t>
            </a:r>
            <a:r>
              <a:rPr b="1" lang="ko-KR" sz="2200" spc="-1" strike="noStrike">
                <a:solidFill>
                  <a:srgbClr val="ffffff"/>
                </a:solidFill>
                <a:latin typeface="Calibri"/>
              </a:rPr>
              <a:t>부하 감소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ffab91"/>
                </a:solidFill>
                <a:latin typeface="Calibri"/>
              </a:rPr>
              <a:t>특히 </a:t>
            </a:r>
            <a:r>
              <a:rPr b="1" lang="en-US" sz="2000" spc="-1" strike="noStrike">
                <a:solidFill>
                  <a:srgbClr val="ffab91"/>
                </a:solidFill>
                <a:latin typeface="Calibri"/>
              </a:rPr>
              <a:t>60</a:t>
            </a:r>
            <a:r>
              <a:rPr b="1" lang="ko-KR" sz="2000" spc="-1" strike="noStrike">
                <a:solidFill>
                  <a:srgbClr val="ffab91"/>
                </a:solidFill>
                <a:latin typeface="Calibri"/>
              </a:rPr>
              <a:t>대 여성 작업자에서 효과 극대화 </a:t>
            </a:r>
            <a:r>
              <a:rPr b="1" lang="en-US" sz="2000" spc="-1" strike="noStrike">
                <a:solidFill>
                  <a:srgbClr val="ffab91"/>
                </a:solidFill>
                <a:latin typeface="Calibri"/>
              </a:rPr>
              <a:t>(</a:t>
            </a:r>
            <a:r>
              <a:rPr b="1" lang="ko-KR" sz="2000" spc="-1" strike="noStrike">
                <a:solidFill>
                  <a:srgbClr val="ffab91"/>
                </a:solidFill>
                <a:latin typeface="Calibri"/>
              </a:rPr>
              <a:t>최대 </a:t>
            </a:r>
            <a:r>
              <a:rPr b="1" lang="en-US" sz="2000" spc="-1" strike="noStrike">
                <a:solidFill>
                  <a:srgbClr val="ffab91"/>
                </a:solidFill>
                <a:latin typeface="Calibri"/>
              </a:rPr>
              <a:t>25.8%)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914400" y="4572000"/>
            <a:ext cx="10058040" cy="16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ffffff"/>
                </a:solidFill>
                <a:latin typeface="Calibri"/>
              </a:rPr>
              <a:t>다음 단계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(Next Steps)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0bec5"/>
                </a:solidFill>
                <a:latin typeface="Calibri"/>
              </a:rPr>
              <a:t>  ① </a:t>
            </a:r>
            <a:r>
              <a:rPr b="0" lang="ko-KR" sz="1600" spc="-1" strike="noStrike">
                <a:solidFill>
                  <a:srgbClr val="b0bec5"/>
                </a:solidFill>
                <a:latin typeface="Calibri"/>
              </a:rPr>
              <a:t>실제 착용 실험 </a:t>
            </a:r>
            <a:r>
              <a:rPr b="0" lang="en-US" sz="1600" spc="-1" strike="noStrike">
                <a:solidFill>
                  <a:srgbClr val="b0bec5"/>
                </a:solidFill>
                <a:latin typeface="Calibri"/>
              </a:rPr>
              <a:t>(EMG </a:t>
            </a:r>
            <a:r>
              <a:rPr b="0" lang="ko-KR" sz="1600" spc="-1" strike="noStrike">
                <a:solidFill>
                  <a:srgbClr val="b0bec5"/>
                </a:solidFill>
                <a:latin typeface="Calibri"/>
              </a:rPr>
              <a:t>검증</a:t>
            </a:r>
            <a:r>
              <a:rPr b="0" lang="en-US" sz="1600" spc="-1" strike="noStrike">
                <a:solidFill>
                  <a:srgbClr val="b0bec5"/>
                </a:solidFill>
                <a:latin typeface="Calibri"/>
              </a:rPr>
              <a:t>) — </a:t>
            </a:r>
            <a:r>
              <a:rPr b="0" lang="ko-KR" sz="1600" spc="-1" strike="noStrike">
                <a:solidFill>
                  <a:srgbClr val="b0bec5"/>
                </a:solidFill>
                <a:latin typeface="Calibri"/>
              </a:rPr>
              <a:t>시뮬레이션 결과 </a:t>
            </a:r>
            <a:r>
              <a:rPr b="0" lang="en-US" sz="1600" spc="-1" strike="noStrike">
                <a:solidFill>
                  <a:srgbClr val="b0bec5"/>
                </a:solidFill>
                <a:latin typeface="Calibri"/>
              </a:rPr>
              <a:t>vs </a:t>
            </a:r>
            <a:r>
              <a:rPr b="0" lang="ko-KR" sz="1600" spc="-1" strike="noStrike">
                <a:solidFill>
                  <a:srgbClr val="b0bec5"/>
                </a:solidFill>
                <a:latin typeface="Calibri"/>
              </a:rPr>
              <a:t>실측 비교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0bec5"/>
                </a:solidFill>
                <a:latin typeface="Calibri"/>
              </a:rPr>
              <a:t>  ② </a:t>
            </a:r>
            <a:r>
              <a:rPr b="0" lang="en-US" sz="1600" spc="-1" strike="noStrike">
                <a:solidFill>
                  <a:srgbClr val="b0bec5"/>
                </a:solidFill>
                <a:latin typeface="Calibri"/>
              </a:rPr>
              <a:t>SMA </a:t>
            </a:r>
            <a:r>
              <a:rPr b="0" lang="ko-KR" sz="1600" spc="-1" strike="noStrike">
                <a:solidFill>
                  <a:srgbClr val="b0bec5"/>
                </a:solidFill>
                <a:latin typeface="Calibri"/>
              </a:rPr>
              <a:t>제어 알고리즘 최적화 — 동작 위상별 가변 보조력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0bec5"/>
                </a:solidFill>
                <a:latin typeface="Calibri"/>
              </a:rPr>
              <a:t>  ③ </a:t>
            </a:r>
            <a:r>
              <a:rPr b="0" lang="ko-KR" sz="1600" spc="-1" strike="noStrike">
                <a:solidFill>
                  <a:srgbClr val="b0bec5"/>
                </a:solidFill>
                <a:latin typeface="Calibri"/>
              </a:rPr>
              <a:t>장시간 착용성 평가 — 열</a:t>
            </a:r>
            <a:r>
              <a:rPr b="0" lang="en-US" sz="1600" spc="-1" strike="noStrike">
                <a:solidFill>
                  <a:srgbClr val="b0bec5"/>
                </a:solidFill>
                <a:latin typeface="Calibri"/>
              </a:rPr>
              <a:t>, </a:t>
            </a:r>
            <a:r>
              <a:rPr b="0" lang="ko-KR" sz="1600" spc="-1" strike="noStrike">
                <a:solidFill>
                  <a:srgbClr val="b0bec5"/>
                </a:solidFill>
                <a:latin typeface="Calibri"/>
              </a:rPr>
              <a:t>무게</a:t>
            </a:r>
            <a:r>
              <a:rPr b="0" lang="en-US" sz="1600" spc="-1" strike="noStrike">
                <a:solidFill>
                  <a:srgbClr val="b0bec5"/>
                </a:solidFill>
                <a:latin typeface="Calibri"/>
              </a:rPr>
              <a:t>, </a:t>
            </a:r>
            <a:r>
              <a:rPr b="0" lang="ko-KR" sz="1600" spc="-1" strike="noStrike">
                <a:solidFill>
                  <a:srgbClr val="b0bec5"/>
                </a:solidFill>
                <a:latin typeface="Calibri"/>
              </a:rPr>
              <a:t>움직임 제한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ko-KR</dc:language>
  <cp:lastModifiedBy/>
  <dcterms:modified xsi:type="dcterms:W3CDTF">2026-04-14T09:23:57Z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